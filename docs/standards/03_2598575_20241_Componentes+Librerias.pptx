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58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138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E0E63E-E84C-46A6-889D-E945A85755A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27AEC9E-24FB-468C-AA0F-C2B1EFBAA8BC}">
      <dgm:prSet custT="1"/>
      <dgm:spPr/>
      <dgm:t>
        <a:bodyPr/>
        <a:lstStyle/>
        <a:p>
          <a:r>
            <a:rPr lang="es-CO" sz="1800" dirty="0"/>
            <a:t>El diseño electrónico consiste en seleccionar un conjunto de componentes y conectarlos para realizar una función determinada</a:t>
          </a:r>
          <a:endParaRPr lang="en-US" sz="1800" dirty="0"/>
        </a:p>
      </dgm:t>
    </dgm:pt>
    <dgm:pt modelId="{F9755693-70AE-4E79-A870-A3FAB83B5424}" type="parTrans" cxnId="{76BD4BB5-EF5E-478D-8A65-C6DB7A6E6140}">
      <dgm:prSet/>
      <dgm:spPr/>
      <dgm:t>
        <a:bodyPr/>
        <a:lstStyle/>
        <a:p>
          <a:endParaRPr lang="en-US" sz="2000"/>
        </a:p>
      </dgm:t>
    </dgm:pt>
    <dgm:pt modelId="{9F31AB8E-B9EF-44C3-93A7-8CD3D6B9628E}" type="sibTrans" cxnId="{76BD4BB5-EF5E-478D-8A65-C6DB7A6E6140}">
      <dgm:prSet/>
      <dgm:spPr/>
      <dgm:t>
        <a:bodyPr/>
        <a:lstStyle/>
        <a:p>
          <a:endParaRPr lang="en-US" sz="2000"/>
        </a:p>
      </dgm:t>
    </dgm:pt>
    <dgm:pt modelId="{B4D6F7B0-C39F-48C8-A412-EF5C707748AE}">
      <dgm:prSet custT="1"/>
      <dgm:spPr/>
      <dgm:t>
        <a:bodyPr/>
        <a:lstStyle/>
        <a:p>
          <a:r>
            <a:rPr lang="es-CO" sz="1400"/>
            <a:t>Algunos encontraran satisfactorio el enfrentar los desafíos de ingeniería que esto involucra y superarlos para obtener un diseño único</a:t>
          </a:r>
          <a:endParaRPr lang="en-US" sz="1400"/>
        </a:p>
      </dgm:t>
    </dgm:pt>
    <dgm:pt modelId="{AE946718-1E3E-4B85-893B-CEC9DC595982}" type="parTrans" cxnId="{B5A7A858-4CA1-42AC-993A-7731B678DE3D}">
      <dgm:prSet/>
      <dgm:spPr/>
      <dgm:t>
        <a:bodyPr/>
        <a:lstStyle/>
        <a:p>
          <a:endParaRPr lang="en-US" sz="2000"/>
        </a:p>
      </dgm:t>
    </dgm:pt>
    <dgm:pt modelId="{845E4B4E-D454-4BDD-A393-95F2ABF2242C}" type="sibTrans" cxnId="{B5A7A858-4CA1-42AC-993A-7731B678DE3D}">
      <dgm:prSet/>
      <dgm:spPr/>
      <dgm:t>
        <a:bodyPr/>
        <a:lstStyle/>
        <a:p>
          <a:endParaRPr lang="en-US" sz="2000"/>
        </a:p>
      </dgm:t>
    </dgm:pt>
    <dgm:pt modelId="{B975622B-2D50-43BB-89E2-E3AA85B77FFB}">
      <dgm:prSet custT="1"/>
      <dgm:spPr/>
      <dgm:t>
        <a:bodyPr/>
        <a:lstStyle/>
        <a:p>
          <a:r>
            <a:rPr lang="es-CO" sz="1800"/>
            <a:t>Gran parte del trabajo y seguramente la parte mas tediosa consiste en crear dichos componentes</a:t>
          </a:r>
          <a:endParaRPr lang="en-US" sz="1800"/>
        </a:p>
      </dgm:t>
    </dgm:pt>
    <dgm:pt modelId="{1408C423-2ACC-4A46-AE32-61E887E5AFE4}" type="parTrans" cxnId="{114212D6-40C8-46B9-8446-61F1D48CA824}">
      <dgm:prSet/>
      <dgm:spPr/>
      <dgm:t>
        <a:bodyPr/>
        <a:lstStyle/>
        <a:p>
          <a:endParaRPr lang="en-US" sz="2000"/>
        </a:p>
      </dgm:t>
    </dgm:pt>
    <dgm:pt modelId="{A75B9C40-AC75-4F29-A879-65572A9B5669}" type="sibTrans" cxnId="{114212D6-40C8-46B9-8446-61F1D48CA824}">
      <dgm:prSet/>
      <dgm:spPr/>
      <dgm:t>
        <a:bodyPr/>
        <a:lstStyle/>
        <a:p>
          <a:endParaRPr lang="en-US" sz="2000"/>
        </a:p>
      </dgm:t>
    </dgm:pt>
    <dgm:pt modelId="{7C0137B2-752E-476B-B424-D0FBD5DB6B7F}">
      <dgm:prSet custT="1"/>
      <dgm:spPr/>
      <dgm:t>
        <a:bodyPr/>
        <a:lstStyle/>
        <a:p>
          <a:r>
            <a:rPr lang="es-CO" sz="1400"/>
            <a:t>Sin embargo, es de anotar que los componentes y las librerías que los agrupan son de gran valor para la compañía</a:t>
          </a:r>
          <a:endParaRPr lang="en-US" sz="1400"/>
        </a:p>
      </dgm:t>
    </dgm:pt>
    <dgm:pt modelId="{9A7BDE61-B248-42BB-BDEB-7E139CB829EA}" type="parTrans" cxnId="{8CF9A268-DD21-4738-80D3-6D62C7003144}">
      <dgm:prSet/>
      <dgm:spPr/>
      <dgm:t>
        <a:bodyPr/>
        <a:lstStyle/>
        <a:p>
          <a:endParaRPr lang="en-US" sz="2000"/>
        </a:p>
      </dgm:t>
    </dgm:pt>
    <dgm:pt modelId="{3D3E1607-3ABE-49BD-B244-95BE5A668945}" type="sibTrans" cxnId="{8CF9A268-DD21-4738-80D3-6D62C7003144}">
      <dgm:prSet/>
      <dgm:spPr/>
      <dgm:t>
        <a:bodyPr/>
        <a:lstStyle/>
        <a:p>
          <a:endParaRPr lang="en-US" sz="2000"/>
        </a:p>
      </dgm:t>
    </dgm:pt>
    <dgm:pt modelId="{9D516B58-4A0C-4DFD-AD3D-7676706831CF}">
      <dgm:prSet custT="1"/>
      <dgm:spPr/>
      <dgm:t>
        <a:bodyPr/>
        <a:lstStyle/>
        <a:p>
          <a:r>
            <a:rPr lang="es-CO" sz="1400"/>
            <a:t>El éxito de los productos electrónicos dependen de la exactitud con la que representen los componentes del mundo real</a:t>
          </a:r>
          <a:endParaRPr lang="en-US" sz="1400"/>
        </a:p>
      </dgm:t>
    </dgm:pt>
    <dgm:pt modelId="{1FF1725D-3D5F-492A-98D4-6F8E375CB813}" type="parTrans" cxnId="{83BF0B05-6C83-46B5-924F-0696C45D477E}">
      <dgm:prSet/>
      <dgm:spPr/>
      <dgm:t>
        <a:bodyPr/>
        <a:lstStyle/>
        <a:p>
          <a:endParaRPr lang="en-US" sz="2000"/>
        </a:p>
      </dgm:t>
    </dgm:pt>
    <dgm:pt modelId="{54376738-C8B6-4000-8415-A7A3D0CD08F1}" type="sibTrans" cxnId="{83BF0B05-6C83-46B5-924F-0696C45D477E}">
      <dgm:prSet/>
      <dgm:spPr/>
      <dgm:t>
        <a:bodyPr/>
        <a:lstStyle/>
        <a:p>
          <a:endParaRPr lang="en-US" sz="2000"/>
        </a:p>
      </dgm:t>
    </dgm:pt>
    <dgm:pt modelId="{E9384A25-F8E2-4D97-A618-C29D3D3A5B9A}">
      <dgm:prSet custT="1"/>
      <dgm:spPr/>
      <dgm:t>
        <a:bodyPr/>
        <a:lstStyle/>
        <a:p>
          <a:r>
            <a:rPr lang="es-CO" sz="1800"/>
            <a:t>Un componente esta representado por múltiples modelos</a:t>
          </a:r>
          <a:endParaRPr lang="en-US" sz="1800"/>
        </a:p>
      </dgm:t>
    </dgm:pt>
    <dgm:pt modelId="{FF2B160F-D568-4095-9127-55ABDA462E85}" type="parTrans" cxnId="{28BDC112-AE80-4DF5-843C-833A280E091D}">
      <dgm:prSet/>
      <dgm:spPr/>
      <dgm:t>
        <a:bodyPr/>
        <a:lstStyle/>
        <a:p>
          <a:endParaRPr lang="en-US" sz="2000"/>
        </a:p>
      </dgm:t>
    </dgm:pt>
    <dgm:pt modelId="{FC55170E-C0D7-4369-B350-AF5C3427D9FF}" type="sibTrans" cxnId="{28BDC112-AE80-4DF5-843C-833A280E091D}">
      <dgm:prSet/>
      <dgm:spPr/>
      <dgm:t>
        <a:bodyPr/>
        <a:lstStyle/>
        <a:p>
          <a:endParaRPr lang="en-US" sz="2000"/>
        </a:p>
      </dgm:t>
    </dgm:pt>
    <dgm:pt modelId="{DB3D96A8-2F7B-443C-89C5-341F1E4386B7}">
      <dgm:prSet custT="1"/>
      <dgm:spPr/>
      <dgm:t>
        <a:bodyPr/>
        <a:lstStyle/>
        <a:p>
          <a:r>
            <a:rPr lang="es-CO" sz="1400"/>
            <a:t>Símbolo esquemático</a:t>
          </a:r>
          <a:endParaRPr lang="en-US" sz="1400"/>
        </a:p>
      </dgm:t>
    </dgm:pt>
    <dgm:pt modelId="{63C265FC-CBA5-4AEA-B097-A01A08B421F1}" type="parTrans" cxnId="{96A71DB2-91F0-4CBF-84B8-6AE474B4BC27}">
      <dgm:prSet/>
      <dgm:spPr/>
      <dgm:t>
        <a:bodyPr/>
        <a:lstStyle/>
        <a:p>
          <a:endParaRPr lang="en-US" sz="2000"/>
        </a:p>
      </dgm:t>
    </dgm:pt>
    <dgm:pt modelId="{5167CE27-A28F-469D-A5FD-491A4AD1E5D6}" type="sibTrans" cxnId="{96A71DB2-91F0-4CBF-84B8-6AE474B4BC27}">
      <dgm:prSet/>
      <dgm:spPr/>
      <dgm:t>
        <a:bodyPr/>
        <a:lstStyle/>
        <a:p>
          <a:endParaRPr lang="en-US" sz="2000"/>
        </a:p>
      </dgm:t>
    </dgm:pt>
    <dgm:pt modelId="{CD142E5B-7DC2-486F-BED8-4DA0D5379775}">
      <dgm:prSet custT="1"/>
      <dgm:spPr/>
      <dgm:t>
        <a:bodyPr/>
        <a:lstStyle/>
        <a:p>
          <a:r>
            <a:rPr lang="es-CO" sz="1400"/>
            <a:t>Modelo de simulación análogo</a:t>
          </a:r>
          <a:endParaRPr lang="en-US" sz="1400"/>
        </a:p>
      </dgm:t>
    </dgm:pt>
    <dgm:pt modelId="{C8E54EA0-78F3-468B-9043-1376BCC9798E}" type="parTrans" cxnId="{F662566F-BF2A-47BA-AC42-6B7F1BE180E6}">
      <dgm:prSet/>
      <dgm:spPr/>
      <dgm:t>
        <a:bodyPr/>
        <a:lstStyle/>
        <a:p>
          <a:endParaRPr lang="en-US" sz="2000"/>
        </a:p>
      </dgm:t>
    </dgm:pt>
    <dgm:pt modelId="{42CEFAFA-7A8A-4C66-A4AF-B48F0BA26541}" type="sibTrans" cxnId="{F662566F-BF2A-47BA-AC42-6B7F1BE180E6}">
      <dgm:prSet/>
      <dgm:spPr/>
      <dgm:t>
        <a:bodyPr/>
        <a:lstStyle/>
        <a:p>
          <a:endParaRPr lang="en-US" sz="2000"/>
        </a:p>
      </dgm:t>
    </dgm:pt>
    <dgm:pt modelId="{2802E1D7-B069-4E0B-A0DC-E0B802178D37}">
      <dgm:prSet custT="1"/>
      <dgm:spPr/>
      <dgm:t>
        <a:bodyPr/>
        <a:lstStyle/>
        <a:p>
          <a:r>
            <a:rPr lang="es-CO" sz="1400"/>
            <a:t>Modelo IBIS para análisis de integridad de señales</a:t>
          </a:r>
          <a:endParaRPr lang="en-US" sz="1400"/>
        </a:p>
      </dgm:t>
    </dgm:pt>
    <dgm:pt modelId="{65BDFEE9-1038-48FF-B62B-ACF5FBDE3A99}" type="parTrans" cxnId="{857C8AC8-684B-4750-8AC1-4F00402CBC3A}">
      <dgm:prSet/>
      <dgm:spPr/>
      <dgm:t>
        <a:bodyPr/>
        <a:lstStyle/>
        <a:p>
          <a:endParaRPr lang="en-US" sz="2000"/>
        </a:p>
      </dgm:t>
    </dgm:pt>
    <dgm:pt modelId="{FE7CD2E0-EBAC-4C62-996C-3A8D33B33D33}" type="sibTrans" cxnId="{857C8AC8-684B-4750-8AC1-4F00402CBC3A}">
      <dgm:prSet/>
      <dgm:spPr/>
      <dgm:t>
        <a:bodyPr/>
        <a:lstStyle/>
        <a:p>
          <a:endParaRPr lang="en-US" sz="2000"/>
        </a:p>
      </dgm:t>
    </dgm:pt>
    <dgm:pt modelId="{6A49D489-2D78-4600-8AE1-105237281E3A}">
      <dgm:prSet custT="1"/>
      <dgm:spPr/>
      <dgm:t>
        <a:bodyPr/>
        <a:lstStyle/>
        <a:p>
          <a:r>
            <a:rPr lang="es-CO" sz="1400"/>
            <a:t>Footprint para enrutado de la PCB</a:t>
          </a:r>
          <a:endParaRPr lang="en-US" sz="1400"/>
        </a:p>
      </dgm:t>
    </dgm:pt>
    <dgm:pt modelId="{C4519731-1395-420E-948C-6D381B26B0B8}" type="parTrans" cxnId="{9F5BE7D4-0D44-445B-979A-2FE85E89AFC9}">
      <dgm:prSet/>
      <dgm:spPr/>
      <dgm:t>
        <a:bodyPr/>
        <a:lstStyle/>
        <a:p>
          <a:endParaRPr lang="en-US" sz="2000"/>
        </a:p>
      </dgm:t>
    </dgm:pt>
    <dgm:pt modelId="{8249F355-F7BB-44BD-B436-3E81971C86ED}" type="sibTrans" cxnId="{9F5BE7D4-0D44-445B-979A-2FE85E89AFC9}">
      <dgm:prSet/>
      <dgm:spPr/>
      <dgm:t>
        <a:bodyPr/>
        <a:lstStyle/>
        <a:p>
          <a:endParaRPr lang="en-US" sz="2000"/>
        </a:p>
      </dgm:t>
    </dgm:pt>
    <dgm:pt modelId="{8B8F2C8D-EDB6-4122-8AF5-0E2BE8C11BBE}">
      <dgm:prSet custT="1"/>
      <dgm:spPr/>
      <dgm:t>
        <a:bodyPr/>
        <a:lstStyle/>
        <a:p>
          <a:r>
            <a:rPr lang="es-CO" sz="1400"/>
            <a:t>Modelo 3D para visualización</a:t>
          </a:r>
          <a:endParaRPr lang="en-US" sz="1400"/>
        </a:p>
      </dgm:t>
    </dgm:pt>
    <dgm:pt modelId="{A390A15C-0012-4DB7-A642-DDDFE56A9932}" type="parTrans" cxnId="{5A9BED44-D07C-492C-8219-6F1044F3B482}">
      <dgm:prSet/>
      <dgm:spPr/>
      <dgm:t>
        <a:bodyPr/>
        <a:lstStyle/>
        <a:p>
          <a:endParaRPr lang="en-US" sz="2000"/>
        </a:p>
      </dgm:t>
    </dgm:pt>
    <dgm:pt modelId="{3CD7833E-9D0E-4817-A7E0-1C34A31949E9}" type="sibTrans" cxnId="{5A9BED44-D07C-492C-8219-6F1044F3B482}">
      <dgm:prSet/>
      <dgm:spPr/>
      <dgm:t>
        <a:bodyPr/>
        <a:lstStyle/>
        <a:p>
          <a:endParaRPr lang="en-US" sz="2000"/>
        </a:p>
      </dgm:t>
    </dgm:pt>
    <dgm:pt modelId="{72195B47-F9A1-4F0A-A978-DD5BEC13B368}" type="pres">
      <dgm:prSet presAssocID="{08E0E63E-E84C-46A6-889D-E945A85755AF}" presName="linear" presStyleCnt="0">
        <dgm:presLayoutVars>
          <dgm:animLvl val="lvl"/>
          <dgm:resizeHandles val="exact"/>
        </dgm:presLayoutVars>
      </dgm:prSet>
      <dgm:spPr/>
    </dgm:pt>
    <dgm:pt modelId="{0622DE79-1AD7-4E69-8852-B4F2B4D9CD6C}" type="pres">
      <dgm:prSet presAssocID="{A27AEC9E-24FB-468C-AA0F-C2B1EFBAA8B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7A80B3-37D9-4CBF-AA61-DF526DED1582}" type="pres">
      <dgm:prSet presAssocID="{A27AEC9E-24FB-468C-AA0F-C2B1EFBAA8BC}" presName="childText" presStyleLbl="revTx" presStyleIdx="0" presStyleCnt="3">
        <dgm:presLayoutVars>
          <dgm:bulletEnabled val="1"/>
        </dgm:presLayoutVars>
      </dgm:prSet>
      <dgm:spPr/>
    </dgm:pt>
    <dgm:pt modelId="{2A7D2A43-7713-4D27-BE19-915F426D286A}" type="pres">
      <dgm:prSet presAssocID="{B975622B-2D50-43BB-89E2-E3AA85B77FF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1309751-3C8B-40BF-B2C8-91D6B69EBCC0}" type="pres">
      <dgm:prSet presAssocID="{B975622B-2D50-43BB-89E2-E3AA85B77FFB}" presName="childText" presStyleLbl="revTx" presStyleIdx="1" presStyleCnt="3">
        <dgm:presLayoutVars>
          <dgm:bulletEnabled val="1"/>
        </dgm:presLayoutVars>
      </dgm:prSet>
      <dgm:spPr/>
    </dgm:pt>
    <dgm:pt modelId="{1012FACA-9E1B-4F6F-B57D-E11488DD9E63}" type="pres">
      <dgm:prSet presAssocID="{E9384A25-F8E2-4D97-A618-C29D3D3A5B9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5146C94-0F08-4DCF-B9B3-3E9745CEBEBC}" type="pres">
      <dgm:prSet presAssocID="{E9384A25-F8E2-4D97-A618-C29D3D3A5B9A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3BF0B05-6C83-46B5-924F-0696C45D477E}" srcId="{B975622B-2D50-43BB-89E2-E3AA85B77FFB}" destId="{9D516B58-4A0C-4DFD-AD3D-7676706831CF}" srcOrd="1" destOrd="0" parTransId="{1FF1725D-3D5F-492A-98D4-6F8E375CB813}" sibTransId="{54376738-C8B6-4000-8415-A7A3D0CD08F1}"/>
    <dgm:cxn modelId="{28BDC112-AE80-4DF5-843C-833A280E091D}" srcId="{08E0E63E-E84C-46A6-889D-E945A85755AF}" destId="{E9384A25-F8E2-4D97-A618-C29D3D3A5B9A}" srcOrd="2" destOrd="0" parTransId="{FF2B160F-D568-4095-9127-55ABDA462E85}" sibTransId="{FC55170E-C0D7-4369-B350-AF5C3427D9FF}"/>
    <dgm:cxn modelId="{3EBD8914-2DDA-49B8-845C-14DD7F4DE9DE}" type="presOf" srcId="{CD142E5B-7DC2-486F-BED8-4DA0D5379775}" destId="{F5146C94-0F08-4DCF-B9B3-3E9745CEBEBC}" srcOrd="0" destOrd="1" presId="urn:microsoft.com/office/officeart/2005/8/layout/vList2"/>
    <dgm:cxn modelId="{F905632F-D9E2-49AB-9331-A2ECAEBA0BC4}" type="presOf" srcId="{A27AEC9E-24FB-468C-AA0F-C2B1EFBAA8BC}" destId="{0622DE79-1AD7-4E69-8852-B4F2B4D9CD6C}" srcOrd="0" destOrd="0" presId="urn:microsoft.com/office/officeart/2005/8/layout/vList2"/>
    <dgm:cxn modelId="{62A27335-6D90-4A41-8C38-95907B81811F}" type="presOf" srcId="{2802E1D7-B069-4E0B-A0DC-E0B802178D37}" destId="{F5146C94-0F08-4DCF-B9B3-3E9745CEBEBC}" srcOrd="0" destOrd="2" presId="urn:microsoft.com/office/officeart/2005/8/layout/vList2"/>
    <dgm:cxn modelId="{3A30533A-A1F4-4F88-A763-6A981618EA47}" type="presOf" srcId="{DB3D96A8-2F7B-443C-89C5-341F1E4386B7}" destId="{F5146C94-0F08-4DCF-B9B3-3E9745CEBEBC}" srcOrd="0" destOrd="0" presId="urn:microsoft.com/office/officeart/2005/8/layout/vList2"/>
    <dgm:cxn modelId="{AF12FD3B-0045-4536-8A62-84864174996F}" type="presOf" srcId="{8B8F2C8D-EDB6-4122-8AF5-0E2BE8C11BBE}" destId="{F5146C94-0F08-4DCF-B9B3-3E9745CEBEBC}" srcOrd="0" destOrd="4" presId="urn:microsoft.com/office/officeart/2005/8/layout/vList2"/>
    <dgm:cxn modelId="{6753323F-A64F-4141-B3CA-A440AA68640D}" type="presOf" srcId="{08E0E63E-E84C-46A6-889D-E945A85755AF}" destId="{72195B47-F9A1-4F0A-A978-DD5BEC13B368}" srcOrd="0" destOrd="0" presId="urn:microsoft.com/office/officeart/2005/8/layout/vList2"/>
    <dgm:cxn modelId="{5A9BED44-D07C-492C-8219-6F1044F3B482}" srcId="{E9384A25-F8E2-4D97-A618-C29D3D3A5B9A}" destId="{8B8F2C8D-EDB6-4122-8AF5-0E2BE8C11BBE}" srcOrd="4" destOrd="0" parTransId="{A390A15C-0012-4DB7-A642-DDDFE56A9932}" sibTransId="{3CD7833E-9D0E-4817-A7E0-1C34A31949E9}"/>
    <dgm:cxn modelId="{8CF9A268-DD21-4738-80D3-6D62C7003144}" srcId="{B975622B-2D50-43BB-89E2-E3AA85B77FFB}" destId="{7C0137B2-752E-476B-B424-D0FBD5DB6B7F}" srcOrd="0" destOrd="0" parTransId="{9A7BDE61-B248-42BB-BDEB-7E139CB829EA}" sibTransId="{3D3E1607-3ABE-49BD-B244-95BE5A668945}"/>
    <dgm:cxn modelId="{F662566F-BF2A-47BA-AC42-6B7F1BE180E6}" srcId="{E9384A25-F8E2-4D97-A618-C29D3D3A5B9A}" destId="{CD142E5B-7DC2-486F-BED8-4DA0D5379775}" srcOrd="1" destOrd="0" parTransId="{C8E54EA0-78F3-468B-9043-1376BCC9798E}" sibTransId="{42CEFAFA-7A8A-4C66-A4AF-B48F0BA26541}"/>
    <dgm:cxn modelId="{B5A7A858-4CA1-42AC-993A-7731B678DE3D}" srcId="{A27AEC9E-24FB-468C-AA0F-C2B1EFBAA8BC}" destId="{B4D6F7B0-C39F-48C8-A412-EF5C707748AE}" srcOrd="0" destOrd="0" parTransId="{AE946718-1E3E-4B85-893B-CEC9DC595982}" sibTransId="{845E4B4E-D454-4BDD-A393-95F2ABF2242C}"/>
    <dgm:cxn modelId="{9020BE86-E884-4F79-806C-1D240E5BE872}" type="presOf" srcId="{9D516B58-4A0C-4DFD-AD3D-7676706831CF}" destId="{E1309751-3C8B-40BF-B2C8-91D6B69EBCC0}" srcOrd="0" destOrd="1" presId="urn:microsoft.com/office/officeart/2005/8/layout/vList2"/>
    <dgm:cxn modelId="{44B69997-E9EE-4990-A788-9A2B96A52CF4}" type="presOf" srcId="{E9384A25-F8E2-4D97-A618-C29D3D3A5B9A}" destId="{1012FACA-9E1B-4F6F-B57D-E11488DD9E63}" srcOrd="0" destOrd="0" presId="urn:microsoft.com/office/officeart/2005/8/layout/vList2"/>
    <dgm:cxn modelId="{A15B77A0-140E-4E39-AAB9-C6D5C002FA61}" type="presOf" srcId="{6A49D489-2D78-4600-8AE1-105237281E3A}" destId="{F5146C94-0F08-4DCF-B9B3-3E9745CEBEBC}" srcOrd="0" destOrd="3" presId="urn:microsoft.com/office/officeart/2005/8/layout/vList2"/>
    <dgm:cxn modelId="{56C8A6A3-3EF7-49D8-9037-8ECDF6A4CF46}" type="presOf" srcId="{B975622B-2D50-43BB-89E2-E3AA85B77FFB}" destId="{2A7D2A43-7713-4D27-BE19-915F426D286A}" srcOrd="0" destOrd="0" presId="urn:microsoft.com/office/officeart/2005/8/layout/vList2"/>
    <dgm:cxn modelId="{96A71DB2-91F0-4CBF-84B8-6AE474B4BC27}" srcId="{E9384A25-F8E2-4D97-A618-C29D3D3A5B9A}" destId="{DB3D96A8-2F7B-443C-89C5-341F1E4386B7}" srcOrd="0" destOrd="0" parTransId="{63C265FC-CBA5-4AEA-B097-A01A08B421F1}" sibTransId="{5167CE27-A28F-469D-A5FD-491A4AD1E5D6}"/>
    <dgm:cxn modelId="{76BD4BB5-EF5E-478D-8A65-C6DB7A6E6140}" srcId="{08E0E63E-E84C-46A6-889D-E945A85755AF}" destId="{A27AEC9E-24FB-468C-AA0F-C2B1EFBAA8BC}" srcOrd="0" destOrd="0" parTransId="{F9755693-70AE-4E79-A870-A3FAB83B5424}" sibTransId="{9F31AB8E-B9EF-44C3-93A7-8CD3D6B9628E}"/>
    <dgm:cxn modelId="{857C8AC8-684B-4750-8AC1-4F00402CBC3A}" srcId="{E9384A25-F8E2-4D97-A618-C29D3D3A5B9A}" destId="{2802E1D7-B069-4E0B-A0DC-E0B802178D37}" srcOrd="2" destOrd="0" parTransId="{65BDFEE9-1038-48FF-B62B-ACF5FBDE3A99}" sibTransId="{FE7CD2E0-EBAC-4C62-996C-3A8D33B33D33}"/>
    <dgm:cxn modelId="{F8CECCCC-1FA8-4A4D-BA7C-A86EDC23DD4A}" type="presOf" srcId="{7C0137B2-752E-476B-B424-D0FBD5DB6B7F}" destId="{E1309751-3C8B-40BF-B2C8-91D6B69EBCC0}" srcOrd="0" destOrd="0" presId="urn:microsoft.com/office/officeart/2005/8/layout/vList2"/>
    <dgm:cxn modelId="{9F5BE7D4-0D44-445B-979A-2FE85E89AFC9}" srcId="{E9384A25-F8E2-4D97-A618-C29D3D3A5B9A}" destId="{6A49D489-2D78-4600-8AE1-105237281E3A}" srcOrd="3" destOrd="0" parTransId="{C4519731-1395-420E-948C-6D381B26B0B8}" sibTransId="{8249F355-F7BB-44BD-B436-3E81971C86ED}"/>
    <dgm:cxn modelId="{114212D6-40C8-46B9-8446-61F1D48CA824}" srcId="{08E0E63E-E84C-46A6-889D-E945A85755AF}" destId="{B975622B-2D50-43BB-89E2-E3AA85B77FFB}" srcOrd="1" destOrd="0" parTransId="{1408C423-2ACC-4A46-AE32-61E887E5AFE4}" sibTransId="{A75B9C40-AC75-4F29-A879-65572A9B5669}"/>
    <dgm:cxn modelId="{1661E1DD-EE88-4547-B342-FC8AB37ABB0C}" type="presOf" srcId="{B4D6F7B0-C39F-48C8-A412-EF5C707748AE}" destId="{407A80B3-37D9-4CBF-AA61-DF526DED1582}" srcOrd="0" destOrd="0" presId="urn:microsoft.com/office/officeart/2005/8/layout/vList2"/>
    <dgm:cxn modelId="{C6F94E56-A784-45A0-A663-D6B65745B252}" type="presParOf" srcId="{72195B47-F9A1-4F0A-A978-DD5BEC13B368}" destId="{0622DE79-1AD7-4E69-8852-B4F2B4D9CD6C}" srcOrd="0" destOrd="0" presId="urn:microsoft.com/office/officeart/2005/8/layout/vList2"/>
    <dgm:cxn modelId="{7CDCC3CA-8EA2-40A6-80AE-3EC65914ACBE}" type="presParOf" srcId="{72195B47-F9A1-4F0A-A978-DD5BEC13B368}" destId="{407A80B3-37D9-4CBF-AA61-DF526DED1582}" srcOrd="1" destOrd="0" presId="urn:microsoft.com/office/officeart/2005/8/layout/vList2"/>
    <dgm:cxn modelId="{3995977B-1BF6-4145-A095-FC06031C9E0C}" type="presParOf" srcId="{72195B47-F9A1-4F0A-A978-DD5BEC13B368}" destId="{2A7D2A43-7713-4D27-BE19-915F426D286A}" srcOrd="2" destOrd="0" presId="urn:microsoft.com/office/officeart/2005/8/layout/vList2"/>
    <dgm:cxn modelId="{A1B328A2-37D9-4ECC-BC6F-BEBC2D1A5655}" type="presParOf" srcId="{72195B47-F9A1-4F0A-A978-DD5BEC13B368}" destId="{E1309751-3C8B-40BF-B2C8-91D6B69EBCC0}" srcOrd="3" destOrd="0" presId="urn:microsoft.com/office/officeart/2005/8/layout/vList2"/>
    <dgm:cxn modelId="{C5ACCC76-14F4-4E79-97FF-5CD3AE1A9674}" type="presParOf" srcId="{72195B47-F9A1-4F0A-A978-DD5BEC13B368}" destId="{1012FACA-9E1B-4F6F-B57D-E11488DD9E63}" srcOrd="4" destOrd="0" presId="urn:microsoft.com/office/officeart/2005/8/layout/vList2"/>
    <dgm:cxn modelId="{C6083BFC-EAC4-4233-8D4E-EA2CD83C533B}" type="presParOf" srcId="{72195B47-F9A1-4F0A-A978-DD5BEC13B368}" destId="{F5146C94-0F08-4DCF-B9B3-3E9745CEBEB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22DE79-1AD7-4E69-8852-B4F2B4D9CD6C}">
      <dsp:nvSpPr>
        <dsp:cNvPr id="0" name=""/>
        <dsp:cNvSpPr/>
      </dsp:nvSpPr>
      <dsp:spPr>
        <a:xfrm>
          <a:off x="0" y="4301"/>
          <a:ext cx="7033847" cy="68097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/>
            <a:t>El diseño electrónico consiste en seleccionar un conjunto de componentes y conectarlos para realizar una función determinada</a:t>
          </a:r>
          <a:endParaRPr lang="en-US" sz="1800" kern="1200" dirty="0"/>
        </a:p>
      </dsp:txBody>
      <dsp:txXfrm>
        <a:off x="33242" y="37543"/>
        <a:ext cx="6967363" cy="614489"/>
      </dsp:txXfrm>
    </dsp:sp>
    <dsp:sp modelId="{407A80B3-37D9-4CBF-AA61-DF526DED1582}">
      <dsp:nvSpPr>
        <dsp:cNvPr id="0" name=""/>
        <dsp:cNvSpPr/>
      </dsp:nvSpPr>
      <dsp:spPr>
        <a:xfrm>
          <a:off x="0" y="685274"/>
          <a:ext cx="7033847" cy="414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325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/>
            <a:t>Algunos encontraran satisfactorio el enfrentar los desafíos de ingeniería que esto involucra y superarlos para obtener un diseño único</a:t>
          </a:r>
          <a:endParaRPr lang="en-US" sz="1400" kern="1200"/>
        </a:p>
      </dsp:txBody>
      <dsp:txXfrm>
        <a:off x="0" y="685274"/>
        <a:ext cx="7033847" cy="414767"/>
      </dsp:txXfrm>
    </dsp:sp>
    <dsp:sp modelId="{2A7D2A43-7713-4D27-BE19-915F426D286A}">
      <dsp:nvSpPr>
        <dsp:cNvPr id="0" name=""/>
        <dsp:cNvSpPr/>
      </dsp:nvSpPr>
      <dsp:spPr>
        <a:xfrm>
          <a:off x="0" y="1100041"/>
          <a:ext cx="7033847" cy="680973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Gran parte del trabajo y seguramente la parte mas tediosa consiste en crear dichos componentes</a:t>
          </a:r>
          <a:endParaRPr lang="en-US" sz="1800" kern="1200"/>
        </a:p>
      </dsp:txBody>
      <dsp:txXfrm>
        <a:off x="33242" y="1133283"/>
        <a:ext cx="6967363" cy="614489"/>
      </dsp:txXfrm>
    </dsp:sp>
    <dsp:sp modelId="{E1309751-3C8B-40BF-B2C8-91D6B69EBCC0}">
      <dsp:nvSpPr>
        <dsp:cNvPr id="0" name=""/>
        <dsp:cNvSpPr/>
      </dsp:nvSpPr>
      <dsp:spPr>
        <a:xfrm>
          <a:off x="0" y="1781015"/>
          <a:ext cx="7033847" cy="8295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325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/>
            <a:t>Sin embargo, es de anotar que los componentes y las librerías que los agrupan son de gran valor para la compañía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/>
            <a:t>El éxito de los productos electrónicos dependen de la exactitud con la que representen los componentes del mundo real</a:t>
          </a:r>
          <a:endParaRPr lang="en-US" sz="1400" kern="1200"/>
        </a:p>
      </dsp:txBody>
      <dsp:txXfrm>
        <a:off x="0" y="1781015"/>
        <a:ext cx="7033847" cy="829534"/>
      </dsp:txXfrm>
    </dsp:sp>
    <dsp:sp modelId="{1012FACA-9E1B-4F6F-B57D-E11488DD9E63}">
      <dsp:nvSpPr>
        <dsp:cNvPr id="0" name=""/>
        <dsp:cNvSpPr/>
      </dsp:nvSpPr>
      <dsp:spPr>
        <a:xfrm>
          <a:off x="0" y="2610549"/>
          <a:ext cx="7033847" cy="680973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Un componente esta representado por múltiples modelos</a:t>
          </a:r>
          <a:endParaRPr lang="en-US" sz="1800" kern="1200"/>
        </a:p>
      </dsp:txBody>
      <dsp:txXfrm>
        <a:off x="33242" y="2643791"/>
        <a:ext cx="6967363" cy="614489"/>
      </dsp:txXfrm>
    </dsp:sp>
    <dsp:sp modelId="{F5146C94-0F08-4DCF-B9B3-3E9745CEBEBC}">
      <dsp:nvSpPr>
        <dsp:cNvPr id="0" name=""/>
        <dsp:cNvSpPr/>
      </dsp:nvSpPr>
      <dsp:spPr>
        <a:xfrm>
          <a:off x="0" y="3291522"/>
          <a:ext cx="7033847" cy="11455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325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/>
            <a:t>Símbolo esquemático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/>
            <a:t>Modelo de simulación análogo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/>
            <a:t>Modelo IBIS para análisis de integridad de señales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/>
            <a:t>Footprint para enrutado de la PCB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O" sz="1400" kern="1200"/>
            <a:t>Modelo 3D para visualización</a:t>
          </a:r>
          <a:endParaRPr lang="en-US" sz="1400" kern="1200"/>
        </a:p>
      </dsp:txBody>
      <dsp:txXfrm>
        <a:off x="0" y="3291522"/>
        <a:ext cx="7033847" cy="11455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5FCDD-4AA6-4455-9F43-37CFA6C6B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5B22C0-911E-4D2F-B979-518FB7471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2C58BB-9918-42AF-AB41-BCB469FF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8431AB-0080-4E66-9E87-52833588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BB43EE-2C04-455D-9FF7-22CA2C74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1848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F8114C-D42E-4DAD-A9E0-8E8B5D9A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6B5A4-72D9-4D3F-AE10-216273D20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699BD1-23C1-4DCE-8B91-070E36007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DAB728-0A4E-46AB-BB30-23DC34719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41BD82-8E14-4AE6-9CEF-63C26F64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3810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6FF8C-4C09-41AE-BD84-E321CDD96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2A0692-2A90-43BD-BC99-ACB9DA284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B1D083-68FF-416E-8D72-D79BD5F5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5A55E8-776A-48EA-87C0-EF736A47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BC929D-F844-4EC1-B522-8B4330260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8602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0C72E-F613-4AF3-A2C2-12AC5D36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3799F8-CD3B-4B2D-A70B-C736F972E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A2DF4D-545E-49C0-9EAE-19DFAD1B5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A4C656-6A2F-49DC-B674-E7E8D6AE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E434AB-F05E-4CE7-8F33-F08BC8F61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172287-5B9A-4DD6-8FE0-12E46CBE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0594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12737-AD4E-4B22-A663-81085ACB2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2F10F8-EE07-4C04-9F24-DDDD4A372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5FD492-FBCA-4323-971A-F21A547B3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800290-FA19-4522-9CA4-7A594B3A3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4887711-4403-4028-8CE4-D2B21BE97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2445D1-BDA8-4E79-84A4-8A0EFC81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2A8257-EAF3-44FF-A4ED-BFD78BB4B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B39F592-7BB7-4E7D-9B1D-4E671595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387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BB8C7-781B-45CB-BEFE-CFB6F79B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27997E-967A-4E1C-A522-E9E55CED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3B57A9-6DB7-4E1B-BF51-ABBAFB742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BF4513-4643-4AF2-9DFF-8B7DC94F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709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3272D46-E951-418F-BFCA-1115F89E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008EFC-B087-42F3-8BE2-1D930944F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73A230-2E00-4E33-BB39-D84D60F2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452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34E3C0-8A81-4B26-BF4C-89479EA0D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13DCF4-8BAE-40C6-B58B-96BA59526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A6CAA1-0453-4684-82A6-C2757EF76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2D0B00-CD11-480D-88B7-0970C083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09943E-F8B3-4110-8196-22E19467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283EA3-557A-4419-8F84-492D67A7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396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6E0D9-58F6-4DB0-8AC0-9E004997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E83ED2-A560-4070-8F03-C0B7D74E5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52FDC8-B3D1-4B07-ACD8-91A56B196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1592DC-CAF1-4397-9C78-CCBD0068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1BCCD6-C398-4463-9781-B479F51AC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0182BF-A024-461E-84F1-826D34B2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91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8DCA7-EC44-47CA-9081-11121C47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60EB72-6F88-4BEF-971E-6171E9863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37E3EC-C1FE-4E5A-B0A0-A301BFCB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A26BAB-D7D8-4F4D-B47C-D9895566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0DB03-06AB-47FD-A5ED-BF0223F8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641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2600F8-2630-44D9-927A-EA6484A3E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70B257-0C35-44A6-B46E-50D9EE430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A71B15-F80E-497F-90B8-417450CEC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A85274-7E63-47B8-A7B0-DFCCDBB77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CDDAAF-1763-4C4A-A989-94CE84819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224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DD734AF-8E19-4DC0-80BD-61EAF2C9E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FD7B47-6281-46FA-A24C-7BB4007CA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87FEF3-6D77-4647-A429-EC3383CE3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2CE71-EF85-45D3-9B4D-446A7298C914}" type="datetimeFigureOut">
              <a:rPr lang="es-CO" smtClean="0"/>
              <a:t>21/02/2023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D3F88-5226-47ED-8DBB-4C6B0D7AC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F6F166-9D9D-483A-8FC3-B2FC81256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DFE0-AB74-4EFC-A7C9-72513FA776A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4082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E4823-6F5C-4557-BD5B-A18FF813A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312054" cy="2889114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CO" sz="5400" dirty="0"/>
              <a:t>Construyendo y </a:t>
            </a:r>
            <a:r>
              <a:rPr lang="es-CO" sz="5400"/>
              <a:t>administrando componentes </a:t>
            </a:r>
            <a:r>
              <a:rPr lang="es-CO" sz="5400" dirty="0"/>
              <a:t>electrónicos y librerías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E9D534-BBED-45F2-812D-C3CEC99F5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es-CO" sz="2000" dirty="0"/>
              <a:t>Unidad 2 – Herramientas diseño PCB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8606CC2A-36EA-4472-8D7D-EFD09353F5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589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81604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5E7E0-D272-442F-8BF1-8F8F40989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6"/>
            <a:ext cx="6586491" cy="1676603"/>
          </a:xfrm>
        </p:spPr>
        <p:txBody>
          <a:bodyPr>
            <a:normAutofit/>
          </a:bodyPr>
          <a:lstStyle/>
          <a:p>
            <a:r>
              <a:rPr lang="es-CO" sz="5400" dirty="0"/>
              <a:t>Introducción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65E419-6C4B-4EDF-88B0-6E3B56F161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367" r="17514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3B18CA8-52E9-422B-A06F-0F8E1E0467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2050824"/>
              </p:ext>
            </p:extLst>
          </p:nvPr>
        </p:nvGraphicFramePr>
        <p:xfrm>
          <a:off x="4843305" y="2220686"/>
          <a:ext cx="7033847" cy="4441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4672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FF1551-D95A-4A78-A7D2-CB1175669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s-CO" sz="4600"/>
              <a:t>Librerías de componentes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5C36B556-870C-4C4E-8B9C-3005B3669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s-CO" sz="2200"/>
              <a:t>En general los componentes se agrupan en librerías</a:t>
            </a:r>
          </a:p>
          <a:p>
            <a:r>
              <a:rPr lang="es-CO" sz="2200"/>
              <a:t>Altium ofrece 3 alternativas para realizar esto</a:t>
            </a:r>
          </a:p>
          <a:p>
            <a:pPr lvl="1"/>
            <a:r>
              <a:rPr lang="es-CO" sz="2200"/>
              <a:t>Librerías en espacio de trabajo</a:t>
            </a:r>
          </a:p>
          <a:p>
            <a:pPr lvl="1"/>
            <a:r>
              <a:rPr lang="es-CO" sz="2200"/>
              <a:t>Librerías en bases de datos</a:t>
            </a:r>
          </a:p>
          <a:p>
            <a:pPr lvl="1"/>
            <a:r>
              <a:rPr lang="es-CO" sz="2200"/>
              <a:t>Librerías en archivo local</a:t>
            </a:r>
          </a:p>
        </p:txBody>
      </p:sp>
    </p:spTree>
    <p:extLst>
      <p:ext uri="{BB962C8B-B14F-4D97-AF65-F5344CB8AC3E}">
        <p14:creationId xmlns:p14="http://schemas.microsoft.com/office/powerpoint/2010/main" val="3067976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146836-F3C2-4935-858A-3A4DBF9F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s-CO" sz="5400"/>
              <a:t>Librería del espacio de trabajo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EA0754-F859-4042-8848-4E475FA03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s-CO" sz="1900"/>
              <a:t>Los componentes se almacenan en su espacio de trabajo</a:t>
            </a:r>
          </a:p>
          <a:p>
            <a:pPr lvl="1"/>
            <a:r>
              <a:rPr lang="es-CO" sz="1900"/>
              <a:t>Almacenamiento seguro y centralizado</a:t>
            </a:r>
          </a:p>
          <a:p>
            <a:pPr lvl="1"/>
            <a:r>
              <a:rPr lang="es-CO" sz="1900"/>
              <a:t>Accesible a todo el equipo de trabajo</a:t>
            </a:r>
          </a:p>
          <a:p>
            <a:r>
              <a:rPr lang="es-CO" sz="1900"/>
              <a:t>Ventajas</a:t>
            </a:r>
          </a:p>
          <a:p>
            <a:pPr lvl="1"/>
            <a:r>
              <a:rPr lang="es-CO" sz="1900"/>
              <a:t>Fuente única de datos de componentes</a:t>
            </a:r>
          </a:p>
          <a:p>
            <a:pPr lvl="1"/>
            <a:r>
              <a:rPr lang="es-CO" sz="1900"/>
              <a:t>Información en tiempo real de la cadena de suministros</a:t>
            </a:r>
          </a:p>
          <a:p>
            <a:pPr lvl="1"/>
            <a:r>
              <a:rPr lang="es-CO" sz="1900"/>
              <a:t>Edición concurrente de la librería</a:t>
            </a:r>
          </a:p>
          <a:p>
            <a:pPr lvl="1"/>
            <a:r>
              <a:rPr lang="es-CO" sz="1900"/>
              <a:t>Reúso de los modelos de los componentes</a:t>
            </a:r>
          </a:p>
          <a:p>
            <a:pPr lvl="1"/>
            <a:r>
              <a:rPr lang="es-CO" sz="1900"/>
              <a:t>Edición directa de los componentes</a:t>
            </a:r>
          </a:p>
          <a:p>
            <a:r>
              <a:rPr lang="es-CO" sz="1900"/>
              <a:t>Altium Designer trabajo con dos tipos de espacios de trabajo</a:t>
            </a:r>
          </a:p>
          <a:p>
            <a:pPr lvl="1"/>
            <a:r>
              <a:rPr lang="es-CO" sz="1900"/>
              <a:t>Altium 365 (Solución en la nube)</a:t>
            </a:r>
          </a:p>
          <a:p>
            <a:pPr lvl="1"/>
            <a:r>
              <a:rPr lang="es-CO" sz="1900"/>
              <a:t>Altium Concord PRO (Solución para máquinas propias)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703EB2-EB75-474B-922A-4B7D3FBD51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12" r="-1" b="4040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2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34E767-E245-45ED-AF04-F254AD3C5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CO" sz="5000"/>
              <a:t>Base de datos de librerías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D5B42E-EB97-4206-B1BD-17436F531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5739720" cy="3892430"/>
          </a:xfrm>
        </p:spPr>
        <p:txBody>
          <a:bodyPr anchor="t">
            <a:normAutofit/>
          </a:bodyPr>
          <a:lstStyle/>
          <a:p>
            <a:r>
              <a:rPr lang="es-CO" sz="1600" dirty="0"/>
              <a:t>Altium permite agregar componentes directamente de la base de datos de componentes de una compañía</a:t>
            </a:r>
          </a:p>
          <a:p>
            <a:r>
              <a:rPr lang="es-CO" sz="1600" dirty="0"/>
              <a:t>Los componentes se agregan directamente desde el panel de componentes</a:t>
            </a:r>
          </a:p>
          <a:p>
            <a:pPr lvl="1"/>
            <a:r>
              <a:rPr lang="es-CO" sz="1600" dirty="0"/>
              <a:t>Sirve de navegador de la librería después de que esta ha sido instalada</a:t>
            </a:r>
          </a:p>
          <a:p>
            <a:r>
              <a:rPr lang="es-CO" sz="1600" dirty="0"/>
              <a:t>Después de agregados a un diseño, los componentes pueden ser sincronizados con los recursos correspondientes en la base de datos</a:t>
            </a:r>
          </a:p>
          <a:p>
            <a:r>
              <a:rPr lang="es-CO" sz="1600" dirty="0"/>
              <a:t>Es posible realizar actualizaciones de componentes</a:t>
            </a:r>
          </a:p>
          <a:p>
            <a:r>
              <a:rPr lang="es-CO" sz="1600" dirty="0"/>
              <a:t>La información paramétrica de la base de datos se puede incluir en el </a:t>
            </a:r>
            <a:r>
              <a:rPr lang="es-CO" sz="1600" dirty="0" err="1"/>
              <a:t>BoM</a:t>
            </a:r>
            <a:endParaRPr lang="es-CO" sz="1600" dirty="0"/>
          </a:p>
          <a:p>
            <a:r>
              <a:rPr lang="es-CO" sz="1600" dirty="0"/>
              <a:t>Requiere la creación de una base de datos ya sea en la nube o en un servidor local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18564E-3366-45B1-AE13-BE45B38E9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498" y="2139695"/>
            <a:ext cx="4632518" cy="313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99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92D3EE-C98E-40F4-840F-94DFF1E45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s-CO" sz="5400"/>
              <a:t>Librerías en archivos locales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D97D2-E17F-4C5F-8239-FE943C99E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0"/>
            <a:ext cx="6673964" cy="6019531"/>
          </a:xfrm>
        </p:spPr>
        <p:txBody>
          <a:bodyPr anchor="ctr">
            <a:normAutofit fontScale="92500" lnSpcReduction="20000"/>
          </a:bodyPr>
          <a:lstStyle/>
          <a:p>
            <a:r>
              <a:rPr lang="es-CO" sz="1800" dirty="0"/>
              <a:t>Esta alternativa permite tener almacenados los componentes de forma local en su computador</a:t>
            </a:r>
          </a:p>
          <a:p>
            <a:r>
              <a:rPr lang="es-CO" sz="1800" dirty="0"/>
              <a:t>Las librerías de archivo son agrupaciones arbitrarias de componentes</a:t>
            </a:r>
          </a:p>
          <a:p>
            <a:pPr lvl="1"/>
            <a:r>
              <a:rPr lang="es-CO" sz="1800" dirty="0"/>
              <a:t>Es el diseñador el encargado de organizar las librerías de acuerdo a algún criterio</a:t>
            </a:r>
          </a:p>
          <a:p>
            <a:pPr lvl="2"/>
            <a:r>
              <a:rPr lang="es-CO" sz="1800" dirty="0"/>
              <a:t>En relación al fabricante o proveedor</a:t>
            </a:r>
          </a:p>
          <a:p>
            <a:pPr lvl="2"/>
            <a:r>
              <a:rPr lang="es-CO" sz="1800" dirty="0"/>
              <a:t>De acuerdo a la función que realiza el componente</a:t>
            </a:r>
          </a:p>
          <a:p>
            <a:pPr lvl="2"/>
            <a:r>
              <a:rPr lang="es-CO" sz="1800" dirty="0"/>
              <a:t>Una por cada proyecto</a:t>
            </a:r>
          </a:p>
          <a:p>
            <a:r>
              <a:rPr lang="es-CO" sz="1800" dirty="0"/>
              <a:t>En Altium las librerías se construyen a partir de 3 archivos fuente</a:t>
            </a:r>
          </a:p>
          <a:p>
            <a:pPr lvl="1"/>
            <a:r>
              <a:rPr lang="es-CO" sz="1800" dirty="0"/>
              <a:t>Librerías de </a:t>
            </a:r>
            <a:r>
              <a:rPr lang="es-CO" sz="1800" dirty="0" err="1"/>
              <a:t>pads</a:t>
            </a:r>
            <a:r>
              <a:rPr lang="es-CO" sz="1800" dirty="0"/>
              <a:t> (*.</a:t>
            </a:r>
            <a:r>
              <a:rPr lang="es-CO" sz="1800" dirty="0" err="1"/>
              <a:t>PvLib</a:t>
            </a:r>
            <a:r>
              <a:rPr lang="es-CO" sz="1800" dirty="0"/>
              <a:t>)</a:t>
            </a:r>
          </a:p>
          <a:p>
            <a:pPr lvl="2"/>
            <a:r>
              <a:rPr lang="es-CO" sz="1800" dirty="0"/>
              <a:t>Defina la geometría de los </a:t>
            </a:r>
            <a:r>
              <a:rPr lang="es-CO" sz="1800" dirty="0" err="1"/>
              <a:t>pads</a:t>
            </a:r>
            <a:r>
              <a:rPr lang="es-CO" sz="1800" dirty="0"/>
              <a:t> de conexión de los componentes</a:t>
            </a:r>
          </a:p>
          <a:p>
            <a:pPr lvl="1"/>
            <a:r>
              <a:rPr lang="es-CO" sz="1800" dirty="0"/>
              <a:t>Librerías de huellas (*.</a:t>
            </a:r>
            <a:r>
              <a:rPr lang="es-CO" sz="1800" dirty="0" err="1"/>
              <a:t>PcbLib</a:t>
            </a:r>
            <a:r>
              <a:rPr lang="es-CO" sz="1800" dirty="0"/>
              <a:t>)</a:t>
            </a:r>
          </a:p>
          <a:p>
            <a:pPr lvl="2"/>
            <a:r>
              <a:rPr lang="es-CO" sz="1800" dirty="0"/>
              <a:t>Contiene la huella </a:t>
            </a:r>
            <a:r>
              <a:rPr lang="es-CO" sz="1800" dirty="0" err="1"/>
              <a:t>footprint</a:t>
            </a:r>
            <a:r>
              <a:rPr lang="es-CO" sz="1800" dirty="0"/>
              <a:t> de los componentes en el PCB</a:t>
            </a:r>
          </a:p>
          <a:p>
            <a:pPr lvl="2"/>
            <a:r>
              <a:rPr lang="es-CO" sz="1800" dirty="0"/>
              <a:t>Hace uso de la librerías de </a:t>
            </a:r>
            <a:r>
              <a:rPr lang="es-CO" sz="1800" dirty="0" err="1"/>
              <a:t>pads</a:t>
            </a:r>
            <a:r>
              <a:rPr lang="es-CO" sz="1800" dirty="0"/>
              <a:t> en la definición de los </a:t>
            </a:r>
            <a:r>
              <a:rPr lang="es-CO" sz="1800" dirty="0" err="1"/>
              <a:t>footprints</a:t>
            </a:r>
            <a:endParaRPr lang="es-CO" sz="1800" dirty="0"/>
          </a:p>
          <a:p>
            <a:pPr lvl="1"/>
            <a:r>
              <a:rPr lang="es-CO" sz="1800" dirty="0"/>
              <a:t>Librerías esquemáticas (*.</a:t>
            </a:r>
            <a:r>
              <a:rPr lang="es-CO" sz="1800" dirty="0" err="1"/>
              <a:t>SchLib</a:t>
            </a:r>
            <a:r>
              <a:rPr lang="es-CO" sz="1800" dirty="0"/>
              <a:t>)</a:t>
            </a:r>
          </a:p>
          <a:p>
            <a:pPr lvl="2"/>
            <a:r>
              <a:rPr lang="es-CO" sz="1800" dirty="0">
                <a:sym typeface="Wingdings" panose="05000000000000000000" pitchFamily="2" charset="2"/>
              </a:rPr>
              <a:t>Conjunto de símbolos electrónicos de los componentes</a:t>
            </a:r>
          </a:p>
          <a:p>
            <a:pPr lvl="2"/>
            <a:r>
              <a:rPr lang="es-CO" sz="1800" dirty="0">
                <a:sym typeface="Wingdings" panose="05000000000000000000" pitchFamily="2" charset="2"/>
              </a:rPr>
              <a:t>Tiene asociado uno varios </a:t>
            </a:r>
            <a:r>
              <a:rPr lang="es-CO" sz="1800" dirty="0" err="1">
                <a:sym typeface="Wingdings" panose="05000000000000000000" pitchFamily="2" charset="2"/>
              </a:rPr>
              <a:t>footprints</a:t>
            </a:r>
            <a:endParaRPr lang="es-CO" sz="1800" dirty="0">
              <a:sym typeface="Wingdings" panose="05000000000000000000" pitchFamily="2" charset="2"/>
            </a:endParaRPr>
          </a:p>
          <a:p>
            <a:pPr lvl="2"/>
            <a:r>
              <a:rPr lang="es-CO" sz="1800" dirty="0">
                <a:sym typeface="Wingdings" panose="05000000000000000000" pitchFamily="2" charset="2"/>
              </a:rPr>
              <a:t>También se pueden asociar modelos de simulación y modelos 3D</a:t>
            </a:r>
          </a:p>
          <a:p>
            <a:r>
              <a:rPr lang="es-CO" sz="1800" dirty="0">
                <a:sym typeface="Wingdings" panose="05000000000000000000" pitchFamily="2" charset="2"/>
              </a:rPr>
              <a:t>Altium permite compilar estos 3 archivos de librería en lo que denomina librerías integradas (*.</a:t>
            </a:r>
            <a:r>
              <a:rPr lang="es-CO" sz="1800" dirty="0" err="1">
                <a:sym typeface="Wingdings" panose="05000000000000000000" pitchFamily="2" charset="2"/>
              </a:rPr>
              <a:t>IntLib</a:t>
            </a:r>
            <a:r>
              <a:rPr lang="es-CO" sz="1800" dirty="0">
                <a:sym typeface="Wingdings" panose="05000000000000000000" pitchFamily="2" charset="2"/>
              </a:rPr>
              <a:t>)</a:t>
            </a:r>
            <a:endParaRPr lang="es-CO" sz="1800" dirty="0"/>
          </a:p>
        </p:txBody>
      </p:sp>
    </p:spTree>
    <p:extLst>
      <p:ext uri="{BB962C8B-B14F-4D97-AF65-F5344CB8AC3E}">
        <p14:creationId xmlns:p14="http://schemas.microsoft.com/office/powerpoint/2010/main" val="144233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11F110-0876-464F-A7E5-3801EB2C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/>
              <a:t>Modelos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6571D6-B89F-43B0-9BE5-ECCB94111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s-CO" sz="2200"/>
              <a:t>Un componente reúne toda la información necesaria para representar dicho componente en todos los dominios de diseño en una sola entidad</a:t>
            </a:r>
          </a:p>
          <a:p>
            <a:r>
              <a:rPr lang="es-CO" sz="2200"/>
              <a:t>Cada componente es una colección de modelos y datos paramétricos</a:t>
            </a:r>
          </a:p>
          <a:p>
            <a:pPr lvl="1"/>
            <a:r>
              <a:rPr lang="es-CO" sz="2200"/>
              <a:t>Son los modelos quienes proporcionan la información en cada dominio de diseño</a:t>
            </a:r>
          </a:p>
          <a:p>
            <a:r>
              <a:rPr lang="es-CO" sz="2200"/>
              <a:t>Altium soporta los siguientes tipos de modelos</a:t>
            </a:r>
          </a:p>
          <a:p>
            <a:pPr lvl="1"/>
            <a:r>
              <a:rPr lang="es-CO" sz="2200"/>
              <a:t>Símbolo Esquemático</a:t>
            </a:r>
          </a:p>
          <a:p>
            <a:pPr lvl="1"/>
            <a:r>
              <a:rPr lang="es-CO" sz="2200"/>
              <a:t>Modelo SPICE</a:t>
            </a:r>
          </a:p>
          <a:p>
            <a:pPr lvl="1"/>
            <a:r>
              <a:rPr lang="es-CO" sz="2200"/>
              <a:t>Modelo de Integridad de señales</a:t>
            </a:r>
          </a:p>
          <a:p>
            <a:pPr lvl="1"/>
            <a:r>
              <a:rPr lang="es-CO" sz="2200"/>
              <a:t>Huella PCB</a:t>
            </a:r>
          </a:p>
          <a:p>
            <a:pPr lvl="1"/>
            <a:r>
              <a:rPr lang="es-CO" sz="2200"/>
              <a:t>Modelo 3D</a:t>
            </a:r>
          </a:p>
        </p:txBody>
      </p:sp>
    </p:spTree>
    <p:extLst>
      <p:ext uri="{BB962C8B-B14F-4D97-AF65-F5344CB8AC3E}">
        <p14:creationId xmlns:p14="http://schemas.microsoft.com/office/powerpoint/2010/main" val="2529562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9D2C10-4FA8-4E17-B13F-8A03BCFA4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s-CO" sz="5400">
                <a:solidFill>
                  <a:srgbClr val="FFFFFF"/>
                </a:solidFill>
              </a:rPr>
              <a:t>Tipos de modelos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CDBFB-6EE4-4080-8C4A-D5DCB3517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s-CO" sz="1500"/>
              <a:t>Símbolo esquemático</a:t>
            </a:r>
          </a:p>
          <a:p>
            <a:pPr lvl="1"/>
            <a:r>
              <a:rPr lang="es-CO" sz="1500"/>
              <a:t>Representa el componente en la herramienta de captura de esquemáticos</a:t>
            </a:r>
          </a:p>
          <a:p>
            <a:pPr lvl="1"/>
            <a:r>
              <a:rPr lang="es-CO" sz="1500"/>
              <a:t>Habilita la posibilidad de interconexión con otros componentes</a:t>
            </a:r>
          </a:p>
          <a:p>
            <a:pPr lvl="1"/>
            <a:r>
              <a:rPr lang="es-CO" sz="1500"/>
              <a:t>Los pines proporcionan las propiedades eléctricas del componente</a:t>
            </a:r>
          </a:p>
          <a:p>
            <a:r>
              <a:rPr lang="es-CO" sz="1500"/>
              <a:t>Modelo SPICE</a:t>
            </a:r>
          </a:p>
          <a:p>
            <a:pPr lvl="1"/>
            <a:r>
              <a:rPr lang="es-CO" sz="1500"/>
              <a:t>Permite simular el comportamiento del componente utilizando el simulador SPICE</a:t>
            </a:r>
          </a:p>
          <a:p>
            <a:pPr lvl="1"/>
            <a:r>
              <a:rPr lang="es-CO" sz="1500"/>
              <a:t>Estos modelos se obtienen normalmente de los fabricantes</a:t>
            </a:r>
          </a:p>
          <a:p>
            <a:pPr lvl="1"/>
            <a:r>
              <a:rPr lang="es-CO" sz="1500"/>
              <a:t>No todos los componentes tienen un modelo SPICE</a:t>
            </a:r>
          </a:p>
          <a:p>
            <a:r>
              <a:rPr lang="es-CO" sz="1500"/>
              <a:t>Modelo de integridad de señales</a:t>
            </a:r>
          </a:p>
          <a:p>
            <a:pPr lvl="1"/>
            <a:r>
              <a:rPr lang="es-CO" sz="1500"/>
              <a:t>En la medida que la frecuencia de operación incrementa, el análisis de las interconexiones se vuelve fundamental</a:t>
            </a:r>
          </a:p>
          <a:p>
            <a:pPr lvl="1"/>
            <a:r>
              <a:rPr lang="es-CO" sz="1500"/>
              <a:t>Los modelos IBIS describen el comportamiento de los pines de un componente</a:t>
            </a:r>
          </a:p>
          <a:p>
            <a:pPr lvl="1"/>
            <a:r>
              <a:rPr lang="es-CO" sz="1500"/>
              <a:t>Altium utiliza estos modelos para realizar análisis de integridad de señales en las rutas del PCB</a:t>
            </a:r>
          </a:p>
        </p:txBody>
      </p:sp>
    </p:spTree>
    <p:extLst>
      <p:ext uri="{BB962C8B-B14F-4D97-AF65-F5344CB8AC3E}">
        <p14:creationId xmlns:p14="http://schemas.microsoft.com/office/powerpoint/2010/main" val="2881857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4F2881-48EF-4171-A77A-608F66504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s-CO" sz="5400">
                <a:solidFill>
                  <a:srgbClr val="FFFFFF"/>
                </a:solidFill>
              </a:rPr>
              <a:t>Tipos de modelos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EE18B6-DDD8-4711-B516-6875426DC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es-CO" sz="2200"/>
              <a:t>Huella PCB</a:t>
            </a:r>
          </a:p>
          <a:p>
            <a:pPr lvl="1"/>
            <a:r>
              <a:rPr lang="es-CO" sz="2200"/>
              <a:t>Cada componente requiere un lugar sobre el PCB donde será soldado y las huellas PCB definen ese espacio</a:t>
            </a:r>
          </a:p>
          <a:p>
            <a:pPr lvl="1"/>
            <a:r>
              <a:rPr lang="es-CO" sz="2200"/>
              <a:t>Una huella de PCB se forma con objetos geométricos, siendo los pads quienes proporcionan la conectividad</a:t>
            </a:r>
          </a:p>
          <a:p>
            <a:r>
              <a:rPr lang="es-CO" sz="2200"/>
              <a:t>Modelo 3D</a:t>
            </a:r>
          </a:p>
          <a:p>
            <a:pPr lvl="1"/>
            <a:r>
              <a:rPr lang="es-CO" sz="2200"/>
              <a:t>Los productos electrónicos de hoy son empacados de forma bastante apretada y en formas algunas veces inusuales</a:t>
            </a:r>
          </a:p>
          <a:p>
            <a:pPr lvl="1"/>
            <a:r>
              <a:rPr lang="es-CO" sz="2200"/>
              <a:t>Para lograr esto es necesario tener un modelo en 3D de la PCB</a:t>
            </a:r>
          </a:p>
          <a:p>
            <a:pPr lvl="1"/>
            <a:r>
              <a:rPr lang="es-CO" sz="2200"/>
              <a:t>Los modelos 3D de cada componente habilitan esta posibilidad</a:t>
            </a:r>
          </a:p>
        </p:txBody>
      </p:sp>
    </p:spTree>
    <p:extLst>
      <p:ext uri="{BB962C8B-B14F-4D97-AF65-F5344CB8AC3E}">
        <p14:creationId xmlns:p14="http://schemas.microsoft.com/office/powerpoint/2010/main" val="289796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921655-AF92-48D4-9CAA-6B9E29504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s-CO" sz="5000"/>
              <a:t>El editor de componentes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1B6206-EA60-46BC-BE2F-AFBD272C2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s-CO" sz="2200"/>
              <a:t>Los componentes son definidos y editados utilizando el editor de componentes</a:t>
            </a:r>
          </a:p>
          <a:p>
            <a:r>
              <a:rPr lang="es-CO" sz="2200"/>
              <a:t>Este editor proporciona dos modos de operación</a:t>
            </a:r>
          </a:p>
          <a:p>
            <a:pPr lvl="1"/>
            <a:r>
              <a:rPr lang="es-CO" sz="2200"/>
              <a:t>Modo de un solo componente</a:t>
            </a:r>
          </a:p>
          <a:p>
            <a:pPr lvl="1"/>
            <a:r>
              <a:rPr lang="es-CO" sz="2200"/>
              <a:t>Modo de edición en batch</a:t>
            </a:r>
          </a:p>
          <a:p>
            <a:r>
              <a:rPr lang="es-CO" sz="2200"/>
              <a:t>Para acceder al editor de componentes use File &gt;&gt; New &gt;&gt; Component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497DD6-AE71-465F-A2B4-EF02AE72F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867" y="640080"/>
            <a:ext cx="4699329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5114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816</Words>
  <Application>Microsoft Office PowerPoint</Application>
  <PresentationFormat>Panorámica</PresentationFormat>
  <Paragraphs>96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Construyendo y administrando componentes electrónicos y librerías</vt:lpstr>
      <vt:lpstr>Introducción</vt:lpstr>
      <vt:lpstr>Librerías de componentes</vt:lpstr>
      <vt:lpstr>Librería del espacio de trabajo</vt:lpstr>
      <vt:lpstr>Base de datos de librerías</vt:lpstr>
      <vt:lpstr>Librerías en archivos locales</vt:lpstr>
      <vt:lpstr>Modelos</vt:lpstr>
      <vt:lpstr>Tipos de modelos</vt:lpstr>
      <vt:lpstr>Tipos de modelos</vt:lpstr>
      <vt:lpstr>El editor de componentes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Construyendo y administrando components electrónicos y librerías</dc:title>
  <dc:creator>RICARDO ANDRES VELASQUEZ VELEZ</dc:creator>
  <cp:lastModifiedBy>RICARDO ANDRES VELASQUEZ VELEZ</cp:lastModifiedBy>
  <cp:revision>4</cp:revision>
  <dcterms:created xsi:type="dcterms:W3CDTF">2022-01-31T19:42:38Z</dcterms:created>
  <dcterms:modified xsi:type="dcterms:W3CDTF">2023-02-21T19:25:15Z</dcterms:modified>
</cp:coreProperties>
</file>